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362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 · E4 BIO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CGMacros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dataset scientifique pour la nutrition</a:t>
            </a:r>
            <a:endParaRPr lang="en-US" sz="2600" dirty="0"/>
          </a:p>
          <a:p>
            <a:pPr marL="0" indent="0">
              <a:buNone/>
            </a:pPr>
            <a:r>
              <a:rPr lang="en-US" sz="2600" i="1" dirty="0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personnalisée et le suivi du régime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109728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Pallière Raphaël  ·  Bouny Mathieu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palliere.raphael@icloud.com   ·   bouny.mathieu@gmail.com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Préambule et objectif du projet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858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73152" cy="3931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Prédire la réponse glycémique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minutes après un repas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l'interaction complexe entre 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glycémique continu (CGM)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des repas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physique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clinique individuel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0" y="3063239"/>
            <a:ext cx="3931920" cy="2971801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" name="Text 10"/>
          <p:cNvSpPr/>
          <p:nvPr/>
        </p:nvSpPr>
        <p:spPr>
          <a:xfrm>
            <a:off x="7863840" y="333755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CLINIQUE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0" y="3703319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Majeur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863840" y="4402058"/>
            <a:ext cx="3657600" cy="1254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maîtrise de la glycémie postprandiale est essentielle pour la prévention et la gestion des troubles métaboliques.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</a:t>
            </a:r>
            <a:r>
              <a:rPr lang="en-US" sz="3000" b="1" dirty="0" err="1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d’accès</a:t>
            </a: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aux données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54864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Accréditation CITI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Obtention des certifications du CITI Program pour la recherche sur sujets humains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237744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2560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4800600" y="3840480"/>
            <a:ext cx="54864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006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PhysioNet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4480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de l'accès à plusieurs bases de données médicales de qualité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237744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686800" y="2560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Shape 16"/>
          <p:cNvSpPr/>
          <p:nvPr/>
        </p:nvSpPr>
        <p:spPr>
          <a:xfrm>
            <a:off x="8686800" y="3840480"/>
            <a:ext cx="54864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6868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Sélection CGMacros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4480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jeu de données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26974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228600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520440" y="2286000"/>
            <a:ext cx="26974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52044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de suivi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28600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400800" y="2286000"/>
            <a:ext cx="26974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40080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CGM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81160" y="228600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9281160" y="2286000"/>
            <a:ext cx="26974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28116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129K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928116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glycémie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 LA COHORTE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3566160" cy="13716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011680" y="5074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 sains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80560" y="4709160"/>
            <a:ext cx="35661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663440" y="47548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5852160" y="5074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Prédiabétiques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21040" y="4709160"/>
            <a:ext cx="3566160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9692640" y="5074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Diabétiques de type 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: Dexcom G6 Pro (5 min) + Abbott FreeStyle Libre Pro (15 min)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Multimodalité des variables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73152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totales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Glucides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Protéines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400800" y="2286000"/>
            <a:ext cx="73152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67512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Activité physique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20840" y="2926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Fitbit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cardiaque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73152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Démographie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51206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4805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400800" y="4480560"/>
            <a:ext cx="73152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675120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Biomarqueurs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20840" y="51206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Glycémie à jeun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lipidique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des données en 5 blocs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188720" y="2468880"/>
            <a:ext cx="1097280" cy="10972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18872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 patient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08760" y="4709160"/>
            <a:ext cx="457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statiques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93008" y="2468880"/>
            <a:ext cx="1097280" cy="10972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493008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035808" y="374904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127248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Glycémie temporelle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13048" y="4709160"/>
            <a:ext cx="457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127248" y="4800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continue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97296" y="2468880"/>
            <a:ext cx="1097280" cy="10972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797296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340096" y="374904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431536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17336" y="4709160"/>
            <a:ext cx="457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31536" y="4800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horodatés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01584" y="2468880"/>
            <a:ext cx="1097280" cy="10972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101584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7644384" y="374904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735824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Activité physique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21624" y="4709160"/>
            <a:ext cx="457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735824" y="4800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continu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405872" y="2468880"/>
            <a:ext cx="1097280" cy="10972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0405872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9948672" y="374904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0040112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Microbiote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725912" y="4709160"/>
            <a:ext cx="457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0040112" y="4800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1 979 bactéries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clés du profil patient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72800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ID · Groupe métabolique (sain / prédiabète / T2D)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Démographie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Âge · Genre · IMC · Poids · Taille · Ethnie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Glycémie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HbA1c · Glycémie à jeun · Insuline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Triglycérides · Cholestérol total · HDL · LDL · VLDL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Indices composites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Non-HDL · Ratio Cho/HDL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5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Répartitions</a:t>
            </a: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observées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9184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 d'âge moyen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91840" y="3246120"/>
            <a:ext cx="36576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9184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Étendue jusqu'à 70 ans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675120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905256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de femmes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052560" y="3246120"/>
            <a:ext cx="36576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05256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genre marqué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14400" y="45720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~75%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3291840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Hispanic / Latino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291840" y="5349240"/>
            <a:ext cx="36576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291840" y="5394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Majorité ethnique nette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43484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675120" y="45720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9052560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équilibre 3 groupes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052560" y="5349240"/>
            <a:ext cx="36576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052560" y="5394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 / 14 patients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approches de </a:t>
            </a:r>
            <a:r>
              <a:rPr lang="en-US" sz="3000" b="1" dirty="0" err="1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modélisation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2285999"/>
            <a:ext cx="5394960" cy="810017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23032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Approche 1 · Régression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233177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la valeur glycémique exacte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 la richesse quantitative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Différencie hyperglycémie légère vs sévère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INCONVÉNIENTS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aux effets de bord près des seuils cliniques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217920" y="2285999"/>
            <a:ext cx="5394960" cy="810017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0" y="23032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Approche 2 · Classification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3233177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Catégoriser hypo / normo / hyperglycémie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5661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pour les frontières diagnostiques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accrue sur le changement de classe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INCONVÉNIENTS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d'information sur l'amplitude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naturel des classes à gérer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D4A0D91-7BF0-48D3-DCB1-2CAD9320BF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3"/>
          <a:stretch>
            <a:fillRect/>
          </a:stretch>
        </p:blipFill>
        <p:spPr bwMode="auto">
          <a:xfrm>
            <a:off x="5788291" y="2286000"/>
            <a:ext cx="6327509" cy="396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hape 9"/>
          <p:cNvSpPr/>
          <p:nvPr/>
        </p:nvSpPr>
        <p:spPr>
          <a:xfrm>
            <a:off x="640080" y="2285999"/>
            <a:ext cx="4598670" cy="24240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Difficulté 1 · Variables problématiques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2285999"/>
            <a:ext cx="137160" cy="2424023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649837" y="2285999"/>
            <a:ext cx="138454" cy="3968151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14400" y="2403318"/>
            <a:ext cx="4215448" cy="606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ethnie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914864"/>
            <a:ext cx="4215448" cy="606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Pertinente cliniquement (incidence variable selon l'origine) mais complexifie les calculs.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834444"/>
            <a:ext cx="4215448" cy="606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Décision : écartée dans un premier temps, réintégration possible ensuite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Difficulté 2 · Valeurs aberrantes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029200" cy="4023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N° 12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Problème</a:t>
            </a:r>
            <a:r>
              <a:rPr lang="en-US" sz="1500" i="1" dirty="0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cardiaque</a:t>
            </a:r>
            <a:r>
              <a:rPr lang="en-US" sz="1500" i="1" dirty="0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repéré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651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Probable problème cardiaque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32461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Triglycérides très élevés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LDL (Cal) très élevé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Pathologie externe au diabète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48463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35040" y="4846320"/>
            <a:ext cx="9144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26364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52578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du patient pour préserver la cohérence de l'étude sur la glycémie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Difficulté 3 · Données manquantes et corrélations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3949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manquantes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</a:t>
            </a: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DEXCOM</a:t>
            </a: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supprimé au profit d'Abbott Libre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Homogénéité garantie sur 45 patients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incohérences inter-capteurs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Abbott complet et fiable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331720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217920" y="2331720"/>
            <a:ext cx="53949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Corrélations fortes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Triglycérides ↔ LDL (Cal)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868680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de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Conservation : lien clinique justifié, suppression incohérente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Protocole de validation et enjeu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20040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5488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1 700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75488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repas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0" y="2377440"/>
            <a:ext cx="3200400" cy="1828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41248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28346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Corrélation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intra-patient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972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137160" cy="1645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CENTRAL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Mesurer la capacité du modèle à prédire sur un patient jamais vu.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appliqué : minimum 30 points valides sur 60 min pré-repas.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de partitionnement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FONDAMENTAL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5953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Partitionnement exclusivement au niveau patient — jamais au niveau des </a:t>
            </a:r>
            <a:r>
              <a:rPr lang="en-US" sz="1800" b="1" i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fenêtres</a:t>
            </a: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800" b="1" i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35661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GroupKFold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avec groups = patient_id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384048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480560" y="3840480"/>
            <a:ext cx="35661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66344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Aucune fuite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4754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fenêtre d'un patient test vue à l'entraînement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384048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321040" y="3840480"/>
            <a:ext cx="35661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50392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Généralisation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réelle de la performance sur nouveau patient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de référence · Baseline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Régression linéaire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Random Forest initialement prévu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73152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Fondamental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le plus basique du ML supervisé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42062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480560" y="4206240"/>
            <a:ext cx="73152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0916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Interprétable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4846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Plancher de performance lisible et explicable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42062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321040" y="4206240"/>
            <a:ext cx="73152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54964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de linéarité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49640" y="4846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performant → relations majoritairement linéaires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Métriques d'évaluation · Régression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72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8288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24231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Mean Squared Error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51760" y="28346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les grosses erreurs · Exprimée dans la même unité que la cible · Sensible aux outliers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0972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82880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51760" y="38404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Absolute Error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42519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valeurs absolues · Robuste aux outliers · Interprétation très simple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972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82880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651760" y="52578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Coefficient de détermination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51760" y="56692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globale du modèle · Comparaison directe entre modèles · Complémentaire aux deux autres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Métriques d'évaluation · Classification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56616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Précision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le nombre de vrais positifs parmi les prédictions positives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480560" y="2331720"/>
            <a:ext cx="3566160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Rappel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 pour détecter les faux négatifs — point d'attention majeur en contexte clinique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233172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321040" y="2331720"/>
            <a:ext cx="35661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321040" y="23317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F1-Score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95360" y="39319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harmonique des deux métriques pour une vision équilibrée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· Arbres de décision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features selon l'horizon de prédiction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5661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3566160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t+30 min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cgm_at_meal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4800600"/>
            <a:ext cx="822960" cy="27432"/>
          </a:xfrm>
          <a:prstGeom prst="rect">
            <a:avLst/>
          </a:prstGeom>
          <a:solidFill>
            <a:srgbClr val="7EB6C4"/>
          </a:solidFill>
          <a:ln w="12700">
            <a:solidFill>
              <a:srgbClr val="7EB6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glycémie n'a pas encore bougé, la valeur de départ suffit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560320"/>
            <a:ext cx="35661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480560" y="2560320"/>
            <a:ext cx="3566160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80560" y="2560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t+60 min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32461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66344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bio_Fasting GLU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52160" y="4800600"/>
            <a:ext cx="822960" cy="27432"/>
          </a:xfrm>
          <a:prstGeom prst="rect">
            <a:avLst/>
          </a:prstGeom>
          <a:solidFill>
            <a:srgbClr val="7EB6C4"/>
          </a:solidFill>
          <a:ln w="12700">
            <a:solidFill>
              <a:srgbClr val="7EB6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09160" y="4892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cgm_at_meal ~28% · hour_sin ~10% · HbA1c apparaît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21040" y="2560320"/>
            <a:ext cx="35661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321040" y="2560320"/>
            <a:ext cx="3566160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321040" y="2560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t+90 min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32461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850392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bio_Fasting GLU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92640" y="4800600"/>
            <a:ext cx="822960" cy="27432"/>
          </a:xfrm>
          <a:prstGeom prst="rect">
            <a:avLst/>
          </a:prstGeom>
          <a:solidFill>
            <a:srgbClr val="7EB6C4"/>
          </a:solidFill>
          <a:ln w="12700">
            <a:solidFill>
              <a:srgbClr val="7EB6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8549640" y="4892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cgm_at_meal ~17% · bio_A1c ~12%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Interprétation de l'évolution temporelle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l'horizon est lointain,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le profil métabolique compte.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9144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73152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CGM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 de l'importance relative à mesure que l'horizon s'allonge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42062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480560" y="4206240"/>
            <a:ext cx="73152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0916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Biomarqueurs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4846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Gagnent en poids (Fasting GLU, HbA1c dominent à t+60 et t+90)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42062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321040" y="4206240"/>
            <a:ext cx="73152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54964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faibles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49640" y="4846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groupe, âge : importance quasi nulle dans tous les cas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Performances · Régression linéaire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 (agrégats) à t+60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53949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32.8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29768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53949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25.4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87552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CLÉS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577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 (agrégats) &gt; Config B (séquence brute)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clinique ISO 15197 (±15 mg/dL) atteint uniquement à t+30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de sélection des modèles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comparatif sur les mêmes données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6974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Régression logistique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20440" y="26060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520440" y="2606040"/>
            <a:ext cx="26974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703320" y="26060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Arbres de décision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26060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400800" y="2606040"/>
            <a:ext cx="26974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83680" y="26060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81160" y="26060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281160" y="2606040"/>
            <a:ext cx="26974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464040" y="26060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Réseau de neurones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DÉCISION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73152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6868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Métriques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5303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MAE / R² pour régression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/ Rappel / F1 pour classification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484632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480560" y="4846320"/>
            <a:ext cx="73152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0916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5303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 scores ne signifient pas meilleur modèle — juste un critère parmi d'autres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484632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8321040" y="4846320"/>
            <a:ext cx="73152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54964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Coût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49640" y="5303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calcul et d'analyse pris en compte dans la comparaison finale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 et limites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3949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APPROFONDIR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comparative des modèles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et tests de stabilité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biais / variance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qualitative des erreurs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 clinique des résultats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217920" y="2331720"/>
            <a:ext cx="5394960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0632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protocole expérimental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dataset (taille, biais)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externe à évaluer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sur populations différentes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 future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365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CGMacros · Projet ML · E4 Bio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histoire cliniquement riche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09728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E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réponse glycémique est multifactorielle et fortement personnalisée. CGMacros ne parle pas seulement de diabète, mais de l'évolution de la glycémie sur un métabolisme individuel.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5120640"/>
            <a:ext cx="1097280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5257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5532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projet ouvrant sur la médecine personnalisée et préventive.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Pallière Raphaël  ·  Bouny Mathieu  ·  E4 Bio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1388</Words>
  <Application>Microsoft Office PowerPoint</Application>
  <PresentationFormat>Grand écran</PresentationFormat>
  <Paragraphs>355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CGMacros - Prédiction glycémique</dc:title>
  <dc:subject>PptxGenJS Presentation</dc:subject>
  <dc:creator>Palliere Raphael &amp; Bouny Mathieu</dc:creator>
  <cp:lastModifiedBy>Mathieu BOUNY</cp:lastModifiedBy>
  <cp:revision>2</cp:revision>
  <dcterms:created xsi:type="dcterms:W3CDTF">2026-04-13T20:09:19Z</dcterms:created>
  <dcterms:modified xsi:type="dcterms:W3CDTF">2026-04-13T20:29:18Z</dcterms:modified>
</cp:coreProperties>
</file>